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7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114"/>
    <p:restoredTop sz="94610"/>
  </p:normalViewPr>
  <p:slideViewPr>
    <p:cSldViewPr snapToGrid="0" snapToObjects="1">
      <p:cViewPr>
        <p:scale>
          <a:sx n="100" d="100"/>
          <a:sy n="100" d="100"/>
        </p:scale>
        <p:origin x="-264" y="9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4823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35868-4D2F-B901-64CA-2734C1E30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46254E-EE69-2050-9835-1D239BC9BA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F1FD9B-C76B-6AB6-F924-26FF939830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813BB-008E-1A90-0412-DFF71C3FDC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7794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7AA88-CB76-4D9D-8A82-4D9F9DE1A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932471-A974-A107-09D5-786F459F2B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286D0E-B6BD-F2D9-0E71-03BB4E161D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789D4-E9EC-67A6-22F9-395208812C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818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7452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AI-Driven KYC Onboarding</a:t>
            </a:r>
            <a:endParaRPr lang="en-US" sz="4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Compliance Engine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4290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compliance-based onboarding with AI-powered fraud verification and background screening</a:t>
            </a:r>
          </a:p>
        </p:txBody>
      </p:sp>
      <p:sp>
        <p:nvSpPr>
          <p:cNvPr id="4" name="Shape 2"/>
          <p:cNvSpPr/>
          <p:nvPr/>
        </p:nvSpPr>
        <p:spPr>
          <a:xfrm>
            <a:off x="731520" y="4297680"/>
            <a:ext cx="2834640" cy="457200"/>
          </a:xfrm>
          <a:prstGeom prst="roundRect">
            <a:avLst>
              <a:gd name="adj" fmla="val 16000"/>
            </a:avLst>
          </a:prstGeom>
          <a:solidFill>
            <a:srgbClr val="2A35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4297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HCLTech × UBC AI/ML Hackathon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#06 — Banking / FinTech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with one-size-fits-all KYC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country demands different documents, fields, and verification flows — but most onboarding pipelines don't adapt.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40–60%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33375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KYC onboarding drop-off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96596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83280" y="22860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$25–50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566160" y="33375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one manual KYC review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96596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0" y="22860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D8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60s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400800" y="33375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automated onboarding time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52560" y="196596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052560" y="22860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$3.1B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235440" y="33375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KYC market size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309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HCLTech × UBC Hackathon use-case brief, Use Case #06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three-stage pipeline, cheapest check first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applicant is gated behaviorally before any document or OSINT work runs — no wasted OCR, DeepFace, or LLM calls on obvious bots.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3794760"/>
          </a:xfrm>
          <a:prstGeom prst="roundRect">
            <a:avLst>
              <a:gd name="adj" fmla="val 2597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240280"/>
            <a:ext cx="548640" cy="548640"/>
          </a:xfrm>
          <a:prstGeom prst="ellipse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fraud gate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pasted fields or scripted uniform-fast typing. Real typing variance — slow, fast, careful — always passes.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87368" y="3753612"/>
            <a:ext cx="237744" cy="219456"/>
          </a:xfrm>
          <a:prstGeom prst="rightArrow">
            <a:avLst/>
          </a:prstGeom>
          <a:solidFill>
            <a:srgbClr val="C7CB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43400" y="1965960"/>
            <a:ext cx="3520440" cy="3794760"/>
          </a:xfrm>
          <a:prstGeom prst="roundRect">
            <a:avLst>
              <a:gd name="adj" fmla="val 2597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17720" y="22402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1772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17720" y="29718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Jurisdiction-aware verification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17720" y="356616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A: full video KYC — OCR + face-match + liveness proxy, live webcam supported.</a:t>
            </a:r>
          </a:p>
          <a:p>
            <a:pPr marL="0" indent="0">
              <a:lnSpc>
                <a:spcPct val="115000"/>
              </a:lnSpc>
              <a:buNone/>
            </a:pPr>
            <a:endParaRPr lang="en-US" sz="1200" dirty="0">
              <a:solidFill>
                <a:srgbClr val="5B62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Country B: ID-only OCR check.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882128" y="3753612"/>
            <a:ext cx="237744" cy="219456"/>
          </a:xfrm>
          <a:prstGeom prst="rightArrow">
            <a:avLst/>
          </a:prstGeom>
          <a:solidFill>
            <a:srgbClr val="C7CB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138160" y="1965960"/>
            <a:ext cx="3520440" cy="3794760"/>
          </a:xfrm>
          <a:prstGeom prst="roundRect">
            <a:avLst>
              <a:gd name="adj" fmla="val 2597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412480" y="2240280"/>
            <a:ext cx="548640" cy="548640"/>
          </a:xfrm>
          <a:prstGeom prst="ellipse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41248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412480" y="29718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OSINT compliance agent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12480" y="356616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OFAC SDN list, adverse media search, court records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risk summary — LOW/MEDIUM/HIGH.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35418" y="26668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pic>
        <p:nvPicPr>
          <p:cNvPr id="5" name="Picture 4" descr="A diagram of a system&#10;&#10;AI-generated content may be incorrect.">
            <a:extLst>
              <a:ext uri="{FF2B5EF4-FFF2-40B4-BE49-F238E27FC236}">
                <a16:creationId xmlns:a16="http://schemas.microsoft.com/office/drawing/2014/main" id="{F3D4BE72-FAA1-4397-4B29-D0644FFA6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159" y="0"/>
            <a:ext cx="568697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value &amp; compliance case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at no cost using freely available tools and resources</a:t>
            </a:r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3977640"/>
          </a:xfrm>
          <a:prstGeom prst="roundRect">
            <a:avLst>
              <a:gd name="adj" fmla="val 2299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2148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8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68680" y="2862072"/>
            <a:ext cx="128016" cy="128016"/>
          </a:xfrm>
          <a:prstGeom prst="ellipse">
            <a:avLst/>
          </a:prstGeom>
          <a:solidFill>
            <a:srgbClr val="1D8A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43000" y="27889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Reaches the brief's &lt;60s performance target</a:t>
            </a:r>
          </a:p>
        </p:txBody>
      </p:sp>
      <p:sp>
        <p:nvSpPr>
          <p:cNvPr id="8" name="Shape 6"/>
          <p:cNvSpPr/>
          <p:nvPr/>
        </p:nvSpPr>
        <p:spPr>
          <a:xfrm>
            <a:off x="868680" y="3822192"/>
            <a:ext cx="128016" cy="128016"/>
          </a:xfrm>
          <a:prstGeom prst="ellipse">
            <a:avLst/>
          </a:prstGeom>
          <a:solidFill>
            <a:srgbClr val="1D8A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43000" y="37490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check (behavioral gate) runs first, so bot traffic never reaches OCR, face-match, or LLM calls.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4782312"/>
            <a:ext cx="128016" cy="128016"/>
          </a:xfrm>
          <a:prstGeom prst="ellipse">
            <a:avLst/>
          </a:prstGeom>
          <a:solidFill>
            <a:srgbClr val="1D8A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43000" y="47091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JSON config change adds a country — no per-country code branch, no re-architecture to scale.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874520"/>
            <a:ext cx="5394960" cy="3977640"/>
          </a:xfrm>
          <a:prstGeom prst="roundRect">
            <a:avLst>
              <a:gd name="adj" fmla="val 2299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37960" y="2148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case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537960" y="2862072"/>
            <a:ext cx="128016" cy="128016"/>
          </a:xfrm>
          <a:prstGeom prst="ellipse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12280" y="27889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OFAC SDN list — 7,495 entries, fuzzy name + DOB matching, not a hand-picked sample.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37960" y="3822192"/>
            <a:ext cx="128016" cy="128016"/>
          </a:xfrm>
          <a:prstGeom prst="ellipse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12280" y="37490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trail: every fraud verdict, OCR field, face-match score, and OSINT summary is logged server-side.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37960" y="4782312"/>
            <a:ext cx="128016" cy="128016"/>
          </a:xfrm>
          <a:prstGeom prst="ellipse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12280" y="47091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black-box scores — every rejection ships with a stated, human-readable reason.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— three scenarios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minutes, three applicants — each one exercises a different stage of the pipeline from slide 3.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3794760"/>
          </a:xfrm>
          <a:prstGeom prst="roundRect">
            <a:avLst>
              <a:gd name="adj" fmla="val 2597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240280"/>
            <a:ext cx="548640" cy="548640"/>
          </a:xfrm>
          <a:prstGeom prst="ellipse">
            <a:avLst/>
          </a:prstGeom>
          <a:solidFill>
            <a:srgbClr val="1D8A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pass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Myself, Country A — full eKYC with live webcam capture, then a clean OSINT check. Approved end-to-end.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965960"/>
            <a:ext cx="3520440" cy="3794760"/>
          </a:xfrm>
          <a:prstGeom prst="roundRect">
            <a:avLst>
              <a:gd name="adj" fmla="val 2597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17720" y="2240280"/>
            <a:ext cx="548640" cy="548640"/>
          </a:xfrm>
          <a:prstGeom prst="ellipse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1772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17720" y="29718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fraud caught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356616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Myself, Country A, with a mismatched ID photo. The identity cross-check catches it — rejected before OSINT even runs.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965960"/>
            <a:ext cx="3520440" cy="3794760"/>
          </a:xfrm>
          <a:prstGeom prst="roundRect">
            <a:avLst>
              <a:gd name="adj" fmla="val 2597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412480" y="2240280"/>
            <a:ext cx="548640" cy="548640"/>
          </a:xfrm>
          <a:prstGeom prst="ellipse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41248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12480" y="29718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Sanctions hit caught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0" y="356616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high-profile applicant, Country B — ID-only routing, then the OSINT agent flags a real OFAC match. Rejected.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459DFC-A241-26E3-4F43-2E2CBC6F6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08ABA57-36E4-264E-5FA8-3D7878DC6672}"/>
              </a:ext>
            </a:extLst>
          </p:cNvPr>
          <p:cNvSpPr/>
          <p:nvPr/>
        </p:nvSpPr>
        <p:spPr>
          <a:xfrm>
            <a:off x="3964940" y="5958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latin typeface="Cambria" pitchFamily="34" charset="0"/>
              </a:rPr>
              <a:t>What to try next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5F7DA33-313C-83F9-F894-42B75CF1ACBC}"/>
              </a:ext>
            </a:extLst>
          </p:cNvPr>
          <p:cNvSpPr/>
          <p:nvPr/>
        </p:nvSpPr>
        <p:spPr>
          <a:xfrm>
            <a:off x="548640" y="1810512"/>
            <a:ext cx="10774680" cy="3977640"/>
          </a:xfrm>
          <a:prstGeom prst="roundRect">
            <a:avLst>
              <a:gd name="adj" fmla="val 2299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6529616-E8E2-65A0-AFF2-BE45C9A28109}"/>
              </a:ext>
            </a:extLst>
          </p:cNvPr>
          <p:cNvSpPr/>
          <p:nvPr/>
        </p:nvSpPr>
        <p:spPr>
          <a:xfrm>
            <a:off x="2899664" y="2328672"/>
            <a:ext cx="128016" cy="128016"/>
          </a:xfrm>
          <a:prstGeom prst="ellipse">
            <a:avLst/>
          </a:prstGeom>
          <a:solidFill>
            <a:srgbClr val="1D8A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80F48B1-8E2E-FB24-7A55-980E1E826709}"/>
              </a:ext>
            </a:extLst>
          </p:cNvPr>
          <p:cNvSpPr/>
          <p:nvPr/>
        </p:nvSpPr>
        <p:spPr>
          <a:xfrm>
            <a:off x="3383280" y="19354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CA" dirty="0"/>
              <a:t>Smarter gatekeeping (ML-based behavioral model)</a:t>
            </a:r>
            <a:endParaRPr lang="en-US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6E207D2-A179-AEAF-62E1-DD839202BE3D}"/>
              </a:ext>
            </a:extLst>
          </p:cNvPr>
          <p:cNvSpPr/>
          <p:nvPr/>
        </p:nvSpPr>
        <p:spPr>
          <a:xfrm>
            <a:off x="2899664" y="3214116"/>
            <a:ext cx="128016" cy="128016"/>
          </a:xfrm>
          <a:prstGeom prst="ellipse">
            <a:avLst/>
          </a:prstGeom>
          <a:solidFill>
            <a:srgbClr val="1D8A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7F51C0F-B03A-D827-BC1F-89564856DBF2}"/>
              </a:ext>
            </a:extLst>
          </p:cNvPr>
          <p:cNvSpPr/>
          <p:nvPr/>
        </p:nvSpPr>
        <p:spPr>
          <a:xfrm>
            <a:off x="3383280" y="2884932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CA" dirty="0"/>
              <a:t>Containerize with Docker Compose (backend + Ollama + a real DB) for one-command reproducible setup</a:t>
            </a:r>
            <a:endParaRPr lang="en-US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1C31ED0-AA2E-4EE6-2798-C4C41F81AE80}"/>
              </a:ext>
            </a:extLst>
          </p:cNvPr>
          <p:cNvSpPr/>
          <p:nvPr/>
        </p:nvSpPr>
        <p:spPr>
          <a:xfrm>
            <a:off x="2899664" y="4227576"/>
            <a:ext cx="128016" cy="128016"/>
          </a:xfrm>
          <a:prstGeom prst="ellipse">
            <a:avLst/>
          </a:prstGeom>
          <a:solidFill>
            <a:srgbClr val="1D8A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E8286C7-C3C3-6282-3BC9-BBB61760837D}"/>
              </a:ext>
            </a:extLst>
          </p:cNvPr>
          <p:cNvSpPr/>
          <p:nvPr/>
        </p:nvSpPr>
        <p:spPr>
          <a:xfrm>
            <a:off x="3383280" y="3834384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CA" dirty="0"/>
              <a:t>Swap the JSONL backlog files for a real database (Postgres) </a:t>
            </a:r>
            <a:endParaRPr lang="en-US" dirty="0"/>
          </a:p>
        </p:txBody>
      </p:sp>
      <p:sp>
        <p:nvSpPr>
          <p:cNvPr id="20" name="Shape 8">
            <a:extLst>
              <a:ext uri="{FF2B5EF4-FFF2-40B4-BE49-F238E27FC236}">
                <a16:creationId xmlns:a16="http://schemas.microsoft.com/office/drawing/2014/main" id="{E450CFBD-F560-07F4-E86D-18571436D442}"/>
              </a:ext>
            </a:extLst>
          </p:cNvPr>
          <p:cNvSpPr/>
          <p:nvPr/>
        </p:nvSpPr>
        <p:spPr>
          <a:xfrm>
            <a:off x="2899664" y="5005832"/>
            <a:ext cx="128016" cy="128016"/>
          </a:xfrm>
          <a:prstGeom prst="ellipse">
            <a:avLst/>
          </a:prstGeom>
          <a:solidFill>
            <a:srgbClr val="1D8A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BD0054B4-8EDA-B625-E898-5D30E6F56141}"/>
              </a:ext>
            </a:extLst>
          </p:cNvPr>
          <p:cNvSpPr/>
          <p:nvPr/>
        </p:nvSpPr>
        <p:spPr>
          <a:xfrm>
            <a:off x="3383280" y="46126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CA" i="1" dirty="0"/>
              <a:t>And many more….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760572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F23D89-574D-8862-41AE-DA3F37728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BBE2927-C71B-6C05-5EF0-4330AFDBC8DB}"/>
              </a:ext>
            </a:extLst>
          </p:cNvPr>
          <p:cNvSpPr/>
          <p:nvPr/>
        </p:nvSpPr>
        <p:spPr>
          <a:xfrm>
            <a:off x="4282440" y="2788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latin typeface="Cambria" pitchFamily="34" charset="0"/>
              </a:rPr>
              <a:t>Thank you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66351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483</Words>
  <Application>Microsoft Macintosh PowerPoint</Application>
  <PresentationFormat>Widescreen</PresentationFormat>
  <Paragraphs>66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rw1030@student.ubc.ca</cp:lastModifiedBy>
  <cp:revision>6</cp:revision>
  <dcterms:created xsi:type="dcterms:W3CDTF">2026-07-17T06:01:25Z</dcterms:created>
  <dcterms:modified xsi:type="dcterms:W3CDTF">2026-07-17T07:24:29Z</dcterms:modified>
</cp:coreProperties>
</file>