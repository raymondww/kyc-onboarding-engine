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70" r:id="rId9"/>
    <p:sldId id="269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17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2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4823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A682-853B-B309-8C40-B3A1495A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C1D0E-0967-ED5B-5C0B-F8BC301A3B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A03E2-1C6B-C807-6A65-5F665AE93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C9B6A-B979-2469-7832-6820C46C0D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7984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35868-4D2F-B901-64CA-2734C1E3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46254E-EE69-2050-9835-1D239BC9BA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F1FD9B-C76B-6AB6-F924-26FF93983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813BB-008E-1A90-0412-DFF71C3FD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7794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AA88-CB76-4D9D-8A82-4D9F9DE1A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32471-A974-A107-09D5-786F459F2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286D0E-B6BD-F2D9-0E71-03BB4E161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789D4-E9EC-67A6-22F9-395208812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1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7452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AI-Driven KYC Onboarding</a:t>
            </a:r>
            <a:endParaRPr lang="en-US" sz="4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Compliance Engine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4290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compliance-based onboarding with AI-powered fraud verification and background screening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HCLTech × UBC AI/ML Hackathon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#06 — Banking / FinTech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one-size-fits-all KYC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country demands different documents, fields, and verification flows — but most onboarding pipelines don't adapt.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40–60%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KYC onboarding drop-off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$25–50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manual KYC review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D8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60s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automated onboarding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5256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$3.1B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KYC market size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HCLTech × UBC Hackathon use-case brief, Use Case #06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three-stage pipeline, cheapest check first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applicant is gated behaviorally before any document or OSINT work runs — no wasted OCR, DeepFace, or LLM calls on obvious bots.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fraud gate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pasted fields or scripted uniform-fast typing. Real typing variance — slow, fast, careful — always passes.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87368" y="3753612"/>
            <a:ext cx="237744" cy="219456"/>
          </a:xfrm>
          <a:prstGeom prst="rightArrow">
            <a:avLst/>
          </a:prstGeom>
          <a:solidFill>
            <a:srgbClr val="C7CB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17720" y="22402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177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1772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Jurisdiction-aware verification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A: full video KYC — OCR + face-match + liveness proxy, live webcam supported.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rgbClr val="5B628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Country B: ID-only OCR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82128" y="3753612"/>
            <a:ext cx="237744" cy="219456"/>
          </a:xfrm>
          <a:prstGeom prst="rightArrow">
            <a:avLst/>
          </a:prstGeom>
          <a:solidFill>
            <a:srgbClr val="C7CB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412480" y="2240280"/>
            <a:ext cx="548640" cy="548640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4124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41248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OSINT compliance agent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1248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OFAC SDN list, adverse media search, court records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risk summary — LOW/MEDIUM/HIGH.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5418" y="266683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800" dirty="0"/>
          </a:p>
        </p:txBody>
      </p:sp>
      <p:pic>
        <p:nvPicPr>
          <p:cNvPr id="5" name="Picture 4" descr="A diagram of a system&#10;&#10;AI-generated content may be incorrect.">
            <a:extLst>
              <a:ext uri="{FF2B5EF4-FFF2-40B4-BE49-F238E27FC236}">
                <a16:creationId xmlns:a16="http://schemas.microsoft.com/office/drawing/2014/main" id="{F3D4BE72-FAA1-4397-4B29-D0644FFA6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159" y="0"/>
            <a:ext cx="568697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value &amp; compliance case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at no cost using freely available tools and resources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8680" y="286207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27889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the brief's &lt;60s performance target</a:t>
            </a:r>
          </a:p>
        </p:txBody>
      </p:sp>
      <p:sp>
        <p:nvSpPr>
          <p:cNvPr id="8" name="Shape 6"/>
          <p:cNvSpPr/>
          <p:nvPr/>
        </p:nvSpPr>
        <p:spPr>
          <a:xfrm>
            <a:off x="868680" y="382219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3749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check (behavioral gate) runs first, so bot traffic never reaches OCR, face-match, or LLM calls.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478231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47091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JSON config change adds a country — no per-country code branch, no re-architecture to scale.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379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case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537960" y="2862072"/>
            <a:ext cx="128016" cy="128016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12280" y="27889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OFAC SDN list — 7,495 entries, fuzzy name + DOB matching, not a hand-picked sample.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37960" y="3822192"/>
            <a:ext cx="128016" cy="128016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12280" y="3749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trail: every fraud verdict, OCR field, face-match score, and OSINT summary is logged server-side.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4782312"/>
            <a:ext cx="128016" cy="128016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12280" y="47091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black-box scores — every rejection ships with a stated, human-readable reason.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three scenarios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three applicants — each one exercises a different stage of the pipeline from slide 3.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pass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Myself, Country A — full eKYC with live webcam capture, then a clean OSINT check. Approved end-to-end.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17720" y="2240280"/>
            <a:ext cx="548640" cy="54864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177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1772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fraud caught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Myself, Country A, with a mismatched ID photo. The identity cross-check catches it — rejected before OSINT even runs.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12480" y="2240280"/>
            <a:ext cx="548640" cy="548640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hit caught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high-profile applicant, Country B — ID-only routing, then the OSINT agent flags a real OFAC match. Rejected.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yc_demo.mp4" descr="A screenshot of a computer&#10;&#10;AI-generated content may be incorrect.">
            <a:hlinkClick r:id="" action="ppaction://media"/>
            <a:extLst>
              <a:ext uri="{FF2B5EF4-FFF2-40B4-BE49-F238E27FC236}">
                <a16:creationId xmlns:a16="http://schemas.microsoft.com/office/drawing/2014/main" id="{4DF99DD2-F69F-A727-5009-B4CE6155C6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43939" y="643467"/>
            <a:ext cx="9904122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721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70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A09A36-312E-4CED-69B9-80EBDCBD1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20F691D-AD32-714B-F2A5-EC7144E279E0}"/>
              </a:ext>
            </a:extLst>
          </p:cNvPr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Logs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9DED365-6B12-2CCE-BC5B-509D559F4220}"/>
              </a:ext>
            </a:extLst>
          </p:cNvPr>
          <p:cNvSpPr/>
          <p:nvPr/>
        </p:nvSpPr>
        <p:spPr>
          <a:xfrm>
            <a:off x="54864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9651F3-C61B-6FCF-739E-FF8A628FC891}"/>
              </a:ext>
            </a:extLst>
          </p:cNvPr>
          <p:cNvSpPr/>
          <p:nvPr/>
        </p:nvSpPr>
        <p:spPr>
          <a:xfrm>
            <a:off x="868680" y="2148840"/>
            <a:ext cx="4519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b="1" dirty="0">
              <a:solidFill>
                <a:srgbClr val="1D8A5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Applicant:  </a:t>
            </a:r>
            <a:r>
              <a:rPr lang="en-US" sz="1700" b="1" dirty="0" err="1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raymond</a:t>
            </a: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 err="1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oconnor</a:t>
            </a: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Country A  |  STATUS: REJECTED (</a:t>
            </a:r>
            <a:r>
              <a:rPr lang="en-US" sz="1700" b="1" dirty="0" err="1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document_check</a:t>
            </a: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55D409-E308-EF8C-CC82-D784582B3E64}"/>
              </a:ext>
            </a:extLst>
          </p:cNvPr>
          <p:cNvSpPr/>
          <p:nvPr/>
        </p:nvSpPr>
        <p:spPr>
          <a:xfrm>
            <a:off x="621792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99B142E-7EB7-A03F-A907-EB376B805282}"/>
              </a:ext>
            </a:extLst>
          </p:cNvPr>
          <p:cNvSpPr/>
          <p:nvPr/>
        </p:nvSpPr>
        <p:spPr>
          <a:xfrm>
            <a:off x="65379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Applicant:  </a:t>
            </a:r>
            <a:r>
              <a:rPr lang="en-US" sz="1700" b="1" dirty="0" err="1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khot</a:t>
            </a: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 err="1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arif</a:t>
            </a: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 err="1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Country B  |  </a:t>
            </a:r>
          </a:p>
          <a:p>
            <a:pPr marL="0" indent="0">
              <a:buNone/>
            </a:pP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REJECTED (OSINT)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F511BC-17D0-9929-EB97-C14C3F3CE5F0}"/>
              </a:ext>
            </a:extLst>
          </p:cNvPr>
          <p:cNvSpPr txBox="1"/>
          <p:nvPr/>
        </p:nvSpPr>
        <p:spPr>
          <a:xfrm>
            <a:off x="868680" y="3063121"/>
            <a:ext cx="432380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Reasons:</a:t>
            </a:r>
          </a:p>
          <a:p>
            <a:r>
              <a:rPr lang="en-US" sz="1600" dirty="0"/>
              <a:t>- Face match failed (similarity = 0.034)</a:t>
            </a:r>
          </a:p>
          <a:p>
            <a:r>
              <a:rPr lang="en-US" sz="1600" dirty="0"/>
              <a:t>- Form name ≠ ID name (similarity = 36/100 — ID reads "KHOT, Arif Ibrahim")</a:t>
            </a:r>
          </a:p>
          <a:p>
            <a:r>
              <a:rPr lang="en-US" sz="1600" dirty="0"/>
              <a:t>- Form DOB ≠ ID DOB (1966-02-27 vs 1970-08-21)</a:t>
            </a:r>
          </a:p>
          <a:p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27524D-0DCD-5925-7802-3D3366004F70}"/>
              </a:ext>
            </a:extLst>
          </p:cNvPr>
          <p:cNvSpPr txBox="1"/>
          <p:nvPr/>
        </p:nvSpPr>
        <p:spPr>
          <a:xfrm>
            <a:off x="6537960" y="2705606"/>
            <a:ext cx="52431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Document check:  approved</a:t>
            </a:r>
          </a:p>
          <a:p>
            <a:r>
              <a:rPr lang="en-US" sz="1600" dirty="0"/>
              <a:t>OSINT risk flag:  HIGH</a:t>
            </a:r>
          </a:p>
          <a:p>
            <a:endParaRPr lang="en-US" sz="1600" dirty="0"/>
          </a:p>
          <a:p>
            <a:r>
              <a:rPr lang="en-US" sz="1600" dirty="0"/>
              <a:t>Risk summary (excerpt):</a:t>
            </a:r>
          </a:p>
          <a:p>
            <a:r>
              <a:rPr lang="en-US" sz="1600" dirty="0"/>
              <a:t>"Repeatedly identified across multiple sources (OFAC, Iran Watch) as</a:t>
            </a:r>
          </a:p>
          <a:p>
            <a:r>
              <a:rPr lang="en-US" sz="1600" dirty="0"/>
              <a:t>subject to severe international sanctions and listed on the SDN list —</a:t>
            </a:r>
          </a:p>
          <a:p>
            <a:r>
              <a:rPr lang="en-US" sz="1600" dirty="0"/>
              <a:t>counter-terrorism concerns, secondary sanctions risk, involvement in</a:t>
            </a:r>
          </a:p>
          <a:p>
            <a:r>
              <a:rPr lang="en-US" sz="1600" dirty="0"/>
              <a:t>illicit trade with sanctioned regions."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212658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78556C-EF11-D4DC-58B8-EC01ED2AC747}"/>
              </a:ext>
            </a:extLst>
          </p:cNvPr>
          <p:cNvSpPr txBox="1"/>
          <p:nvPr/>
        </p:nvSpPr>
        <p:spPr>
          <a:xfrm>
            <a:off x="389467" y="1088572"/>
            <a:ext cx="11430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Applicant:  </a:t>
            </a:r>
            <a:r>
              <a:rPr lang="en-US" dirty="0" err="1"/>
              <a:t>raymond</a:t>
            </a:r>
            <a:r>
              <a:rPr lang="en-US" dirty="0"/>
              <a:t> </a:t>
            </a:r>
            <a:r>
              <a:rPr lang="en-US" dirty="0" err="1"/>
              <a:t>oconnor</a:t>
            </a:r>
            <a:r>
              <a:rPr lang="en-US" dirty="0"/>
              <a:t>  |  Country A  |  STATUS: REJECTED (</a:t>
            </a:r>
            <a:r>
              <a:rPr lang="en-US" dirty="0" err="1"/>
              <a:t>document_check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Reasons:</a:t>
            </a:r>
          </a:p>
          <a:p>
            <a:r>
              <a:rPr lang="en-US" dirty="0"/>
              <a:t>- Face match failed (similarity = 0.034)</a:t>
            </a:r>
          </a:p>
          <a:p>
            <a:r>
              <a:rPr lang="en-US" dirty="0"/>
              <a:t>- Form name ≠ ID name (similarity = 36/100 — ID reads "KHOT, Arif Ibrahim")</a:t>
            </a:r>
          </a:p>
          <a:p>
            <a:r>
              <a:rPr lang="en-US" dirty="0"/>
              <a:t>- Form DOB ≠ ID DOB (1966-02-27 vs 1970-08-21)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DF6E0-5E80-3657-AE13-4B844C122156}"/>
              </a:ext>
            </a:extLst>
          </p:cNvPr>
          <p:cNvSpPr txBox="1"/>
          <p:nvPr/>
        </p:nvSpPr>
        <p:spPr>
          <a:xfrm>
            <a:off x="389467" y="2997200"/>
            <a:ext cx="9042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Applicant:  </a:t>
            </a:r>
            <a:r>
              <a:rPr lang="en-US" dirty="0" err="1"/>
              <a:t>khot</a:t>
            </a:r>
            <a:r>
              <a:rPr lang="en-US" dirty="0"/>
              <a:t> </a:t>
            </a:r>
            <a:r>
              <a:rPr lang="en-US" dirty="0" err="1"/>
              <a:t>arif</a:t>
            </a:r>
            <a:r>
              <a:rPr lang="en-US" dirty="0"/>
              <a:t> </a:t>
            </a:r>
            <a:r>
              <a:rPr lang="en-US" dirty="0" err="1"/>
              <a:t>ibrahim</a:t>
            </a:r>
            <a:r>
              <a:rPr lang="en-US" dirty="0"/>
              <a:t>  |  Country B  |  STATUS: REJECTED (OSINT)</a:t>
            </a:r>
          </a:p>
          <a:p>
            <a:endParaRPr lang="en-US" dirty="0"/>
          </a:p>
          <a:p>
            <a:r>
              <a:rPr lang="en-US" dirty="0"/>
              <a:t>Document check:  approved</a:t>
            </a:r>
          </a:p>
          <a:p>
            <a:r>
              <a:rPr lang="en-US" dirty="0"/>
              <a:t>OSINT risk flag:  HIGH</a:t>
            </a:r>
          </a:p>
          <a:p>
            <a:endParaRPr lang="en-US" dirty="0"/>
          </a:p>
          <a:p>
            <a:r>
              <a:rPr lang="en-US" dirty="0"/>
              <a:t>Risk summary (excerpt):</a:t>
            </a:r>
          </a:p>
          <a:p>
            <a:r>
              <a:rPr lang="en-US" dirty="0"/>
              <a:t>"Repeatedly identified across multiple sources (OFAC, Iran Watch) as</a:t>
            </a:r>
          </a:p>
          <a:p>
            <a:r>
              <a:rPr lang="en-US" dirty="0"/>
              <a:t>subject to severe international sanctions and listed on the SDN list —</a:t>
            </a:r>
          </a:p>
          <a:p>
            <a:r>
              <a:rPr lang="en-US" dirty="0"/>
              <a:t>counter-terrorism concerns, secondary sanctions risk, involvement in</a:t>
            </a:r>
          </a:p>
          <a:p>
            <a:r>
              <a:rPr lang="en-US" dirty="0"/>
              <a:t>illicit trade with sanctioned regions."</a:t>
            </a: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1FFE05BD-879E-E63C-F0E6-6ABCCE5D3797}"/>
              </a:ext>
            </a:extLst>
          </p:cNvPr>
          <p:cNvSpPr/>
          <p:nvPr/>
        </p:nvSpPr>
        <p:spPr>
          <a:xfrm>
            <a:off x="389467" y="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mbria" pitchFamily="34" charset="0"/>
              </a:rPr>
              <a:t>Sample Logs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51457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459DFC-A241-26E3-4F43-2E2CBC6F6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8ABA57-36E4-264E-5FA8-3D7878DC6672}"/>
              </a:ext>
            </a:extLst>
          </p:cNvPr>
          <p:cNvSpPr/>
          <p:nvPr/>
        </p:nvSpPr>
        <p:spPr>
          <a:xfrm>
            <a:off x="3964940" y="5958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mbria" pitchFamily="34" charset="0"/>
              </a:rPr>
              <a:t>What to try next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5F7DA33-313C-83F9-F894-42B75CF1ACBC}"/>
              </a:ext>
            </a:extLst>
          </p:cNvPr>
          <p:cNvSpPr/>
          <p:nvPr/>
        </p:nvSpPr>
        <p:spPr>
          <a:xfrm>
            <a:off x="548640" y="1810512"/>
            <a:ext cx="1077468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529616-E8E2-65A0-AFF2-BE45C9A28109}"/>
              </a:ext>
            </a:extLst>
          </p:cNvPr>
          <p:cNvSpPr/>
          <p:nvPr/>
        </p:nvSpPr>
        <p:spPr>
          <a:xfrm>
            <a:off x="2899664" y="232867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0F48B1-8E2E-FB24-7A55-980E1E826709}"/>
              </a:ext>
            </a:extLst>
          </p:cNvPr>
          <p:cNvSpPr/>
          <p:nvPr/>
        </p:nvSpPr>
        <p:spPr>
          <a:xfrm>
            <a:off x="3383280" y="1935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dirty="0"/>
              <a:t>Smarter gatekeeping (ML-based behavioral model)</a:t>
            </a:r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6E207D2-A179-AEAF-62E1-DD839202BE3D}"/>
              </a:ext>
            </a:extLst>
          </p:cNvPr>
          <p:cNvSpPr/>
          <p:nvPr/>
        </p:nvSpPr>
        <p:spPr>
          <a:xfrm>
            <a:off x="2899664" y="3214116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7F51C0F-B03A-D827-BC1F-89564856DBF2}"/>
              </a:ext>
            </a:extLst>
          </p:cNvPr>
          <p:cNvSpPr/>
          <p:nvPr/>
        </p:nvSpPr>
        <p:spPr>
          <a:xfrm>
            <a:off x="3383280" y="288493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dirty="0"/>
              <a:t>Containerize with Docker Compose (backend + Ollama + a real DB) for one-command reproducible setup</a:t>
            </a:r>
            <a:endParaRPr lang="en-US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1C31ED0-AA2E-4EE6-2798-C4C41F81AE80}"/>
              </a:ext>
            </a:extLst>
          </p:cNvPr>
          <p:cNvSpPr/>
          <p:nvPr/>
        </p:nvSpPr>
        <p:spPr>
          <a:xfrm>
            <a:off x="2899664" y="4227576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E8286C7-C3C3-6282-3BC9-BBB61760837D}"/>
              </a:ext>
            </a:extLst>
          </p:cNvPr>
          <p:cNvSpPr/>
          <p:nvPr/>
        </p:nvSpPr>
        <p:spPr>
          <a:xfrm>
            <a:off x="3383280" y="383438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dirty="0"/>
              <a:t>Swap the JSONL backlog files for a real database (Postgres) </a:t>
            </a:r>
            <a:endParaRPr lang="en-US" dirty="0"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E450CFBD-F560-07F4-E86D-18571436D442}"/>
              </a:ext>
            </a:extLst>
          </p:cNvPr>
          <p:cNvSpPr/>
          <p:nvPr/>
        </p:nvSpPr>
        <p:spPr>
          <a:xfrm>
            <a:off x="2899664" y="500583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BD0054B4-8EDA-B625-E898-5D30E6F56141}"/>
              </a:ext>
            </a:extLst>
          </p:cNvPr>
          <p:cNvSpPr/>
          <p:nvPr/>
        </p:nvSpPr>
        <p:spPr>
          <a:xfrm>
            <a:off x="3383280" y="4612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i="1" dirty="0"/>
              <a:t>And many more….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760572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23D89-574D-8862-41AE-DA3F37728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BBE2927-C71B-6C05-5EF0-4330AFDBC8DB}"/>
              </a:ext>
            </a:extLst>
          </p:cNvPr>
          <p:cNvSpPr/>
          <p:nvPr/>
        </p:nvSpPr>
        <p:spPr>
          <a:xfrm>
            <a:off x="4282440" y="2788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mbria" pitchFamily="34" charset="0"/>
              </a:rPr>
              <a:t>Thank you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6351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740</Words>
  <Application>Microsoft Macintosh PowerPoint</Application>
  <PresentationFormat>Widescreen</PresentationFormat>
  <Paragraphs>101</Paragraphs>
  <Slides>11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rw1030@student.ubc.ca</cp:lastModifiedBy>
  <cp:revision>7</cp:revision>
  <dcterms:created xsi:type="dcterms:W3CDTF">2026-07-17T06:01:25Z</dcterms:created>
  <dcterms:modified xsi:type="dcterms:W3CDTF">2026-07-17T08:15:56Z</dcterms:modified>
</cp:coreProperties>
</file>